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9A769"/>
                </a:solidFill>
                <a:latin typeface="Calibri"/>
              </a:rPr>
              <a:t>RESERVOIR ANALYTICS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0584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1A1A1A"/>
                </a:solidFill>
                <a:latin typeface="Calibri"/>
              </a:rPr>
              <a:t>Beyond the
Headline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572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1">
                <a:solidFill>
                  <a:srgbClr val="555555"/>
                </a:solidFill>
                <a:latin typeface="Calibri"/>
              </a:rPr>
              <a:t>A petrophysical investigation of 18,167 depth samples.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5394960"/>
            <a:ext cx="2286000" cy="19050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55778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Kamil Muradli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589788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eiGroup Associate Data Scientist Assessment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99999"/>
                </a:solidFill>
                <a:latin typeface="Calibri"/>
              </a:rPr>
              <a:t>Submitted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02  —  OVERVIEW  ·  THE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Four parts. One coherent investigation.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Each part both stands alone and informs the next.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03120"/>
            <a:ext cx="2697480" cy="54864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Part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974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4D7A"/>
                </a:solidFill>
                <a:latin typeface="Calibri"/>
              </a:rPr>
              <a:t>Data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22402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Load, join, validate. Discover what the dataset hides.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103120"/>
            <a:ext cx="2697480" cy="54864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77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Part 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6974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4D7A"/>
                </a:solidFill>
                <a:latin typeface="Calibri"/>
              </a:rPr>
              <a:t>Per-Zone Metrics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29000"/>
            <a:ext cx="22402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Five required + seven bonus diagnostics across 35 (well, zone) groups.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2103120"/>
            <a:ext cx="2697480" cy="54864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2377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Part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6974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4D7A"/>
                </a:solidFill>
                <a:latin typeface="Calibri"/>
              </a:rPr>
              <a:t>Cutoff Sensitivity &amp; Field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429000"/>
            <a:ext cx="22402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Sweep cutoffs to bound conclusions. Visualize the field from six angles.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2103120"/>
            <a:ext cx="269748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52560" y="2103120"/>
            <a:ext cx="2697480" cy="54864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1160" y="23774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Part 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1160" y="26974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1A4D7A"/>
                </a:solidFill>
                <a:latin typeface="Calibri"/>
              </a:rPr>
              <a:t>Sub-Zone Definition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429000"/>
            <a:ext cx="224028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Find geologically meaningful sub-zones consistent across wells.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Five required deliverables, four exceeded. Every part backed by tests and reproducible CLI.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03  —  OVERVIEW  ·  PIPELINE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One command per part. Reproducible end-to-end.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Each CLI command writes parquet caches, CSV deliverables, and Markdown reports.</a:t>
            </a:r>
          </a:p>
        </p:txBody>
      </p:sp>
      <p:pic>
        <p:nvPicPr>
          <p:cNvPr id="7" name="Picture 6" descr="00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10332720" cy="475922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04  —  OVERVIEW  ·  THE 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Seven wells. Five zones. Eighteen thousand samples.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Five petrophysical logs per sample: vsh, phit, perm, sw, depth.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26060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18,167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4290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depth samples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194560"/>
            <a:ext cx="26060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256032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34290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wells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2194560"/>
            <a:ext cx="26060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56032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4290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zones (A–E)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0" y="2194560"/>
            <a:ext cx="26060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560320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0.2 – 0.5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429000"/>
            <a:ext cx="2057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sampling step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4415" cy="6350"/>
          </a:xfrm>
          <a:prstGeom prst="rect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70916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4D7A"/>
                </a:solidFill>
                <a:latin typeface="Calibri"/>
              </a:rPr>
              <a:t>Quality issues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•   Well 5 sampled at 0.5 m vs 0.2 m elsewhere   ·   Well 3 has 78 NaN porosity values   ·   3,514 samples sit at the perm tool ceiling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All three were uncovered, documented, and handled. Detail in the next four slides.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05  —  PART A  ·  DATA INTEGRATION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Joining 18,167 samples to 35 zone tops.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Pandas merge_asof on per-well depth ranges, with boundary validation.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C9A769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103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Load 7 well CSVs + zones lookup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4688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Schema validation. well_id column added per file.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06324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C9A769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063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merge_asof on depth (per well)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4290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direction='backward', by='well_id'. Each sample assigned to its containing zone.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2336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C9A769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0233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Compute per-well dz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3891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depth.diff() per well_id. Critical: well_5 gets dz=0.5, others dz=0.2.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983480"/>
            <a:ext cx="457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C9A769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983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Validate boundaries + run QC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53492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Range checks, NaN counts, saturation flag. Three real issues found.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Output: master_table.parquet (18,167 rows × 9 columns). Single source of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06  —  PART A  ·  WHAT WE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Three quality issues by design. All flagged.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The dataset was deliberately constructed with these. We discovered all three.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36118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3611880" cy="73152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55555"/>
                </a:solidFill>
                <a:latin typeface="Calibri"/>
              </a:rPr>
              <a:t>Tool saturation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80360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B8860B"/>
                </a:solidFill>
                <a:latin typeface="Calibri"/>
              </a:rPr>
              <a:t>3,514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79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Permeability values pinned at exactly 15,000 mD — the upper measurement limit.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749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B8860B"/>
                </a:solidFill>
                <a:latin typeface="Calibri"/>
              </a:rPr>
              <a:t>19.34% of all samples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194560"/>
            <a:ext cx="36118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2194560"/>
            <a:ext cx="3611880" cy="73152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46888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55555"/>
                </a:solidFill>
                <a:latin typeface="Calibri"/>
              </a:rPr>
              <a:t>Well 5 sampling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80360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1A4D7A"/>
                </a:solidFill>
                <a:latin typeface="Calibri"/>
              </a:rPr>
              <a:t>0.5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7033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step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069079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Six wells sampled at 0.2 m; well 5 at 0.5 m. 2.5× difference per sample.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50749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1A4D7A"/>
                </a:solidFill>
                <a:latin typeface="Calibri"/>
              </a:rPr>
              <a:t>Solved by depth-weighting everywhere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2194560"/>
            <a:ext cx="3611880" cy="329184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194560"/>
            <a:ext cx="3611880" cy="73152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246888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55555"/>
                </a:solidFill>
                <a:latin typeface="Calibri"/>
              </a:rPr>
              <a:t>Well 3 missing data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880360"/>
            <a:ext cx="3063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C9A769"/>
                </a:solidFill>
                <a:latin typeface="Calibri"/>
              </a:rPr>
              <a:t>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37033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NaN phit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4069079"/>
            <a:ext cx="3063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1A1A1A"/>
                </a:solidFill>
                <a:latin typeface="Calibri"/>
              </a:rPr>
              <a:t>Distributed across zones in well 3. Consistent with tool malfunction at depths.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507492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C9A769"/>
                </a:solidFill>
                <a:latin typeface="Calibri"/>
              </a:rPr>
              <a:t>0.43% of total samples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07  —  PART A  ·  THE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A number that shouldn't exist.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94415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0" b="1" i="0">
                <a:solidFill>
                  <a:srgbClr val="1A4D7A"/>
                </a:solidFill>
                <a:latin typeface="Calibri"/>
              </a:rPr>
              <a:t>3,514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2336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 i="1">
                <a:solidFill>
                  <a:srgbClr val="1A1A1A"/>
                </a:solidFill>
                <a:latin typeface="Calibri"/>
              </a:rPr>
              <a:t>of 18,167 samples report exactly 15,000 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5262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555555"/>
                </a:solidFill>
                <a:latin typeface="Calibri"/>
              </a:rPr>
              <a:t>— to machine precision. Not 14,985. Not 15,012. Exactly 15,000.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0" y="5349240"/>
            <a:ext cx="7635240" cy="731520"/>
          </a:xfrm>
          <a:prstGeom prst="rect">
            <a:avLst/>
          </a:prstGeom>
          <a:solidFill>
            <a:srgbClr val="FFF3D6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0" y="5349240"/>
            <a:ext cx="36576" cy="731520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544068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A real measurement near a tool's ceiling is continuous. A discrete spike at exactly the maximum is the signature of saturation.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08  —  PART A  ·  CONSEQUENCES OF THE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Four downstream effects we had to handle.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Every part of the pipeline below treats saturation as a first-class concern.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359152"/>
            <a:ext cx="146304" cy="146304"/>
          </a:xfrm>
          <a:prstGeom prst="ellipse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945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kh estimates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40" y="21945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Lower bounds, not best estimates.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5603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Saturated samples contribute 15,000 × dz to kh. Real perm is higher. Effect surfaces in every kh number reported.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273552"/>
            <a:ext cx="146304" cy="146304"/>
          </a:xfrm>
          <a:prstGeom prst="ellipse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1089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Average permeability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31089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Dragged down toward the ceiling.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40" y="34747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Arithmetic mean of 14,997 mD in Zone B is essentially the ceiling — not the true mean.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87952"/>
            <a:ext cx="146304" cy="146304"/>
          </a:xfrm>
          <a:prstGeom prst="ellipse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0233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Lorenz heterogeneity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4023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Collapses to ~0 when saturation is severe.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43891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Zone B's Lorenz ≈ 0.001 is mathematical inevitability, not a homogeneity finding. The instrument can't see the heterogeneity.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102352"/>
            <a:ext cx="146304" cy="146304"/>
          </a:xfrm>
          <a:prstGeom prst="ellipse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937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Clustering on perm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4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1A1A"/>
                </a:solidFill>
                <a:latin typeface="Calibri"/>
              </a:rPr>
              <a:t>Fails silently on saturated features.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40" y="5303520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Part D Zone B: two of three sub-zones get log_perm centroids of 4.175938 vs 4.176091 — indistinguishable.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21792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We did not drop saturated samples. We kept, counted, and surfaced them everywhere.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09  —  PART B  ·  PER-ZONE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Twelve metrics per (well, zone). Thirty-five rows.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Five required by the case + seven bonus diagnostics we added.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REQUIRED  ·  case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5146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Gross thickness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2514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sum(dz) over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718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Net thickness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9718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sum(dz) where vsh ≤ 0.5 AND phit ≥ 0.08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290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Avg phit (net)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3429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mean(phit) over net rows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8862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Avg perm (net)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8862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mean(perm) over net rows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343400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kh (flow capacity)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343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sum(perm × dz) over net rows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2103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BONUS  ·  earns its place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5146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NTG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2514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net/gross. Standard quality KPI.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17920" y="28803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kh-weighted perm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8803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Engineering-correct mean.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24612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Lorenz coefficient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2461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Heterogeneity in [0,1]. Motivates Part 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361188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n_samples_net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3611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Sanity check.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9776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n_phit_nan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0" y="39776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NaN exclusions counted (well 3).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34340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n_perm_saturated_in_net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4343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Tool-cap count. Makes lower-bound visible.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470916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frac_saturated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47091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Saturation as a fraction of net.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10  —  PART B  ·  WHERE THE FLOW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kh by well × zone. The whole field on one grid.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Log-coloured cells. Saturated-sample counts annotated where present.</a:t>
            </a:r>
          </a:p>
        </p:txBody>
      </p:sp>
      <p:pic>
        <p:nvPicPr>
          <p:cNvPr id="7" name="Picture 6" descr="01_kh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20240"/>
            <a:ext cx="9418320" cy="6191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636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Zone B uniformly dominant across all wells. Zone D uniformly weak. Well 7 leads at 2.37 M mD·m.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11  —  PART B  ·  FIVE ZONE SIGNATURES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Five zones. Five distinct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Field-level rollup of net thickness, kh, and saturation.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94560"/>
          <a:ext cx="1109166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0000"/>
                <a:gridCol w="962500"/>
                <a:gridCol w="962500"/>
                <a:gridCol w="1191667"/>
                <a:gridCol w="962500"/>
                <a:gridCol w="1283333"/>
                <a:gridCol w="5179169"/>
              </a:tblGrid>
              <a:tr h="50292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1">
                          <a:solidFill>
                            <a:srgbClr val="1A4D7A"/>
                          </a:solidFill>
                          <a:latin typeface="Calibri"/>
                        </a:rPr>
                        <a:t>Zone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1">
                          <a:solidFill>
                            <a:srgbClr val="1A4D7A"/>
                          </a:solidFill>
                          <a:latin typeface="Calibri"/>
                        </a:rPr>
                        <a:t>Net (m)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1">
                          <a:solidFill>
                            <a:srgbClr val="1A4D7A"/>
                          </a:solidFill>
                          <a:latin typeface="Calibri"/>
                        </a:rPr>
                        <a:t>NTG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1">
                          <a:solidFill>
                            <a:srgbClr val="1A4D7A"/>
                          </a:solidFill>
                          <a:latin typeface="Calibri"/>
                        </a:rPr>
                        <a:t>kh (mD·m)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1">
                          <a:solidFill>
                            <a:srgbClr val="1A4D7A"/>
                          </a:solidFill>
                          <a:latin typeface="Calibri"/>
                        </a:rPr>
                        <a:t>Avg perm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1">
                          <a:solidFill>
                            <a:srgbClr val="1A4D7A"/>
                          </a:solidFill>
                          <a:latin typeface="Calibri"/>
                        </a:rPr>
                        <a:t>Saturated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1">
                          <a:solidFill>
                            <a:srgbClr val="1A4D7A"/>
                          </a:solidFill>
                          <a:latin typeface="Calibri"/>
                        </a:rPr>
                        <a:t>Signature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2D7D47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466.0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267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572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  <a:latin typeface="Calibri"/>
                        </a:rPr>
                        <a:t>Clean top reservoir — most cutoff-sensitive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1A4D7A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711.9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0.93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B8860B"/>
                          </a:solidFill>
                          <a:latin typeface="Calibri"/>
                        </a:rPr>
                        <a:t>10.7 M  ⚠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14,997 mD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1">
                          <a:solidFill>
                            <a:srgbClr val="B8860B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  <a:latin typeface="Calibri"/>
                        </a:rPr>
                        <a:t>Dominant flow zone — every kh is a lower bound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D67D2C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915.0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680 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743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  <a:latin typeface="Calibri"/>
                        </a:rPr>
                        <a:t>Heterogeneous (Lorenz 0.65) — motivates Part D clustering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C0392B"/>
                          </a:solidFill>
                          <a:latin typeface="Calibri"/>
                        </a:rPr>
                        <a:t>D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52.9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0.79 mD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  <a:latin typeface="Calibri"/>
                        </a:rPr>
                        <a:t>Tight rock — non-reservoir at any cutoff</a:t>
                      </a:r>
                    </a:p>
                  </a:txBody>
                  <a:tcPr>
                    <a:solidFill>
                      <a:srgbClr val="FAF8F2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200" b="1">
                          <a:solidFill>
                            <a:srgbClr val="A8392B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586.8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1.2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2,045 mD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000" b="0">
                          <a:solidFill>
                            <a:srgbClr val="555555"/>
                          </a:solidFill>
                          <a:latin typeface="Calibri"/>
                        </a:rPr>
                        <a:t>Deep reservoir — most defensible high-perm zone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Zone B's headline kh is a lower bound; Zone E is the largest defensible kh in the field at 1.2 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12  —  PART B  ·  THE WELL 7 PARADOX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Well 7 leads the kh ranking. But also leads in censoring.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The two go together — and the implication is uncomfortable.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 i="0">
                <a:solidFill>
                  <a:srgbClr val="1A4D7A"/>
                </a:solidFill>
                <a:latin typeface="Calibri"/>
              </a:rPr>
              <a:t>2.59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63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mD·m total kh (rank 1 of 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194560"/>
            <a:ext cx="23774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 i="0">
                <a:solidFill>
                  <a:srgbClr val="B8860B"/>
                </a:solidFill>
                <a:latin typeface="Calibri"/>
              </a:rPr>
              <a:t>798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063240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saturated samples (30% of well 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1945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</a:pPr>
            <a:r>
              <a:rPr sz="6000" b="1" i="0">
                <a:solidFill>
                  <a:srgbClr val="C0392B"/>
                </a:solidFill>
                <a:latin typeface="Calibri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30632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true gap to the rest of the field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11094415" cy="6350"/>
          </a:xfrm>
          <a:prstGeom prst="rect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475488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1A1A1A"/>
                </a:solidFill>
                <a:latin typeface="Calibri"/>
              </a:rPr>
              <a:t>Saturation makes apparent kh larger. The bound is loosest where the headline number is biggest.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486400"/>
            <a:ext cx="11094415" cy="82296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5486400"/>
            <a:ext cx="36576" cy="822960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77840"/>
            <a:ext cx="1072865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Recommendation: any well-to-well kh comparison must report saturation fraction alongside the kh number, otherwise rankings are partly an instrument artefact.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13  —  PART C.1  ·  CUTOFF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Nine cutoffs. 315 results. One robust picture.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Default vsh = 0.5 is a literature value, not calibrated. Sweep instead.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11094415" cy="73152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36576" cy="731520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1072865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1">
                <a:solidFill>
                  <a:srgbClr val="1A1A1A"/>
                </a:solidFill>
                <a:latin typeface="Calibri"/>
              </a:rPr>
              <a:t>Without core or production data to calibrate against, picking one cutoff is a guess. The honest move: bound the conclusions by sweeping the threshold.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0040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Sweep parameters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661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34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vsh cutoffs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35661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0.30 → 0.70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4434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range (step 0.05)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35661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315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434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result rows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3566160"/>
            <a:ext cx="27432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 i="0">
                <a:solidFill>
                  <a:srgbClr val="1A4D7A"/>
                </a:solidFill>
                <a:latin typeface="Calibri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443484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bootstrap resamples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Next slide: the picture that bounds every conclusion in this submission.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14  —  PART C.1  ·  SENSITIVITY CURVES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Two flat zones bracket three sensitive 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NTG_field vs vsh cutoff. Bold = zone average. Thin = per-well trajectory.</a:t>
            </a:r>
          </a:p>
        </p:txBody>
      </p:sp>
      <p:pic>
        <p:nvPicPr>
          <p:cNvPr id="7" name="Picture 6" descr="04_ntg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0240" y="1920240"/>
            <a:ext cx="8321040" cy="549950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636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Zone B robust at top (79-93%). Zone D robust failure (≤29%). A, C, E swing 50-79 pp.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15  —  PART C.1  ·  ROBUST vs CUTOFF-DRIVEN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Which findings survive any reasonable cutoff?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Five findings hold robustly. Three depend on the threshold.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5394960" cy="457200"/>
          </a:xfrm>
          <a:prstGeom prst="rect">
            <a:avLst/>
          </a:prstGeom>
          <a:solidFill>
            <a:srgbClr val="2D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ROBUST  ·  survive every cutoff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7D47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788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Zone B is the field's dominant flow 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7D47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Zone B kh is a lower bound (saturation)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947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7D47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Zone D is effectively non-reservoir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976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7D47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2976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Well 7 leads on visible kh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8006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2D7D47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48006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Zone E is the most defensible high-perm zone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194560"/>
            <a:ext cx="5394960" cy="45720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22860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CUTOFF-DRIVEN  ·  depend on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278892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60B"/>
                </a:solidFill>
                <a:latin typeface="Calibri"/>
              </a:rPr>
              <a:t>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7889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Zone A's NTG = 0.63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3017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ranges 0.15 to 0.94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329184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60B"/>
                </a:solidFill>
                <a:latin typeface="Calibri"/>
              </a:rPr>
              <a:t>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2918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Zone C's NTG = 0.84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352044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ranges 0.38 to 0.94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379476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60B"/>
                </a:solidFill>
                <a:latin typeface="Calibri"/>
              </a:rPr>
              <a:t>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7947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A1A1A"/>
                </a:solidFill>
                <a:latin typeface="Calibri"/>
              </a:rPr>
              <a:t>Zone E's NTG = 0.70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4023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ranges 0.32 to 0.89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For cutoff-driven findings, we report ranges. For robust findings, point estimates are defensible.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16  —  PART C.2  ·  LORENZ HETEROGENEITY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The signal that motivated Part 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Flow concentration per zone. 0 = uniform, 1 = single super-streak.</a:t>
            </a:r>
          </a:p>
        </p:txBody>
      </p:sp>
      <p:pic>
        <p:nvPicPr>
          <p:cNvPr id="7" name="Picture 6" descr="05_lorenz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20240"/>
            <a:ext cx="6858000" cy="70564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2103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Lorenz coefficients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4688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67D2C"/>
                </a:solidFill>
                <a:latin typeface="Calibri"/>
              </a:rPr>
              <a:t>Zone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1080" y="24688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0.65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7889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real heterogeneity — needs sub-zoning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31546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A8392B"/>
                </a:solidFill>
                <a:latin typeface="Calibri"/>
              </a:rPr>
              <a:t>Zone 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1546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~0.52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34747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moderate, typical clean sand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38404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D7D47"/>
                </a:solidFill>
                <a:latin typeface="Calibri"/>
              </a:rPr>
              <a:t>Zone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38404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~0.45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41605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moderate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5262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  <a:latin typeface="Calibri"/>
              </a:rPr>
              <a:t>Zone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45262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0.30-0.48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8463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noisy, small samples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5212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4D7A"/>
                </a:solidFill>
                <a:latin typeface="Calibri"/>
              </a:rPr>
              <a:t>Zone 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521208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~0.001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5532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saturation artefact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Zone C's 0.65 is the highest non-artefactual value. That's the bridge to Part 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17  —  PART C.2  ·  ANSWERING THE CASE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Which zones are consistently strong or weak?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NTG and log(kh) distributions across 7 wells, per zone.</a:t>
            </a:r>
          </a:p>
        </p:txBody>
      </p:sp>
      <p:pic>
        <p:nvPicPr>
          <p:cNvPr id="7" name="Picture 6" descr="09_zone_qualit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20240"/>
            <a:ext cx="9418320" cy="407264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263640"/>
            <a:ext cx="11094415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Zone B tight at top (consistent strong). Zone D tight at bottom (consistent weak). Zone A widest box (variable).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18  —  PART D  ·  SUB-ZONE 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Pick one zone. Subdivide it. Consistent across wells.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We picked Zone C. We also ran Zone B as a controlled negative result.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9A769"/>
                </a:solidFill>
                <a:latin typeface="Calibri"/>
              </a:rPr>
              <a:t>WHY ZONE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Lorenz 0.65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718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highest non-artefactual heterogeneity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1,094 m gross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490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thickest zone in the field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06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Only 0.4% saturated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instrument actually sees the perm 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1945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9A769"/>
                </a:solidFill>
                <a:latin typeface="Calibri"/>
              </a:rPr>
              <a:t>METHOD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65176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K-Means on 6 features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9718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vsh, phit, log(perm), sw, eff_φ, hc_φ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4290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Standardized + pooled fit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490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z-score then fit on all 7 wells together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206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GMM cross-check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52628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second algorithm for structure validation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The pooled fit is what makes 'same sub-zone across wells' operationally meaningful.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19  —  PART D  ·  AN HONEST MODELLING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k=2 wins by silhouette. We chose k=3 anyway.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The case asks for 2–3 sub-zones. We document why three is the geological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94560"/>
            <a:ext cx="539496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k=2  ·  silhouette winner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555555"/>
                </a:solidFill>
                <a:latin typeface="Calibri"/>
              </a:rPr>
              <a:t>0.394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66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55555"/>
                </a:solidFill>
                <a:latin typeface="Calibri"/>
              </a:rPr>
              <a:t>Highest silhouette score, but a coarse 'good vs poor' split. Two operational tiers.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2194560"/>
            <a:ext cx="5394960" cy="182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1A4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37744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1A4D7A"/>
                </a:solidFill>
                <a:latin typeface="Calibri"/>
              </a:rPr>
              <a:t>k=3  ·  geological winner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74320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A4D7A"/>
                </a:solidFill>
                <a:latin typeface="Calibri"/>
              </a:rPr>
              <a:t>0.276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56616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1A1A1A"/>
                </a:solidFill>
                <a:latin typeface="Calibri"/>
              </a:rPr>
              <a:t>Three coherent tiers (poor / moderate / best). Three operational decisions.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434840"/>
            <a:ext cx="11094415" cy="6350"/>
          </a:xfrm>
          <a:prstGeom prst="rect">
            <a:avLst/>
          </a:prstGeom>
          <a:solidFill>
            <a:srgbClr val="F0E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57200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C9A769"/>
                </a:solidFill>
                <a:latin typeface="Calibri"/>
              </a:rPr>
              <a:t>Why three: every feature orders monotonically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98348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vsh decreases (0.51 → 0.33 → 0.22)  ·  phit increases (0.14 → 0.20 → 0.25)  ·  perm increases (71 → 231 → 744 mD)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4924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55555"/>
                </a:solidFill>
                <a:latin typeface="Calibri"/>
              </a:rPr>
              <a:t>sw decreases (0.62 → 0.47 → 0.32) — hydrocarbon content improves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Random or spurious clusters do not order monotonically on multiple petrophysical features.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20  —  PART D  ·  THREE SUB-ZONES, CONSISTENT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Sub-zone 0 → 1 → 2. Quality improves monotonically.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Pooled K-Means centroids on Zone C (3,571 net samples, 6 features).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2194560"/>
          <a:ext cx="1109166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667"/>
                <a:gridCol w="1375000"/>
                <a:gridCol w="1466667"/>
                <a:gridCol w="1466667"/>
                <a:gridCol w="1283333"/>
                <a:gridCol w="4308335"/>
              </a:tblGrid>
              <a:tr h="50292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1A4D7A"/>
                          </a:solidFill>
                          <a:latin typeface="Calibri"/>
                        </a:rPr>
                        <a:t>Sub-zone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1A4D7A"/>
                          </a:solidFill>
                          <a:latin typeface="Calibri"/>
                        </a:rPr>
                        <a:t>Avg vsh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1A4D7A"/>
                          </a:solidFill>
                          <a:latin typeface="Calibri"/>
                        </a:rPr>
                        <a:t>Avg phit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1A4D7A"/>
                          </a:solidFill>
                          <a:latin typeface="Calibri"/>
                        </a:rPr>
                        <a:t>Avg perm (mD)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1A4D7A"/>
                          </a:solidFill>
                          <a:latin typeface="Calibri"/>
                        </a:rPr>
                        <a:t>Avg sw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1">
                          <a:solidFill>
                            <a:srgbClr val="1A4D7A"/>
                          </a:solidFill>
                          <a:latin typeface="Calibri"/>
                        </a:rPr>
                        <a:t>Tier</a:t>
                      </a:r>
                    </a:p>
                  </a:txBody>
                  <a:tcPr>
                    <a:solidFill>
                      <a:srgbClr val="F0EEE6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C0392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0.510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~71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C0392B"/>
                          </a:solidFill>
                          <a:latin typeface="Calibri"/>
                        </a:rPr>
                        <a:t>Poor — high shale, low porosity, low perm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D67D2C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0.331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0.201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~231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D67D2C"/>
                          </a:solidFill>
                          <a:latin typeface="Calibri"/>
                        </a:rPr>
                        <a:t>Moderate — typical sand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lIns="54864" rIns="54864" tIns="36576" bIns="36576"/>
                    <a:lstStyle/>
                    <a:p>
                      <a:pPr algn="ctr"/>
                      <a:r>
                        <a:rPr sz="1400" b="1">
                          <a:solidFill>
                            <a:srgbClr val="2D7D47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0.216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0.246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~744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r"/>
                      <a:r>
                        <a:rPr sz="1100" b="0">
                          <a:solidFill>
                            <a:srgbClr val="1A1A1A"/>
                          </a:solidFill>
                          <a:latin typeface="Calibri"/>
                        </a:rPr>
                        <a:t>0.32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100" b="0">
                          <a:solidFill>
                            <a:srgbClr val="2D7D47"/>
                          </a:solidFill>
                          <a:latin typeface="Calibri"/>
                        </a:rPr>
                        <a:t>Best — clean, high-perm drilling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754880"/>
            <a:ext cx="11094415" cy="128016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754880"/>
            <a:ext cx="36576" cy="1280160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1054577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All three sub-zones appear in all seven wells.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303520"/>
            <a:ext cx="10545775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21 (well × sub-zone) rows  ·  no missing combinations  ·  perm gap sub-zone 0 → 2 is 5-7× in every well.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21  —  PART D  ·  CROSS-WELL CONSISTENCY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Validation by leave-one-well-out.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Fit on six wells, predict on the seventh, compare to pooled clustering.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41148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0" b="1" i="0">
                <a:solidFill>
                  <a:srgbClr val="1A4D7A"/>
                </a:solidFill>
                <a:latin typeface="Calibri"/>
              </a:rPr>
              <a:t>0.991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1A1A"/>
                </a:solidFill>
                <a:latin typeface="Calibri"/>
              </a:rPr>
              <a:t>mean LOWO ARI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023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Adjusted Rand Index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48056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555555"/>
                </a:solidFill>
                <a:latin typeface="Calibri"/>
              </a:rPr>
              <a:t>1.0 = identical clustering. The structure is essentially invariant to which well is withheld.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1945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Per-fold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35040" y="2651760"/>
            <a:ext cx="713232" cy="713232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27249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01752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0.963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21424" y="2651760"/>
            <a:ext cx="713232" cy="713232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1424" y="27249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1424" y="301752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0.992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7808" y="2651760"/>
            <a:ext cx="713232" cy="713232"/>
          </a:xfrm>
          <a:prstGeom prst="rect">
            <a:avLst/>
          </a:prstGeom>
          <a:solidFill>
            <a:srgbClr val="2D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7808" y="27249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07808" y="301752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1.000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94192" y="2651760"/>
            <a:ext cx="713232" cy="713232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27249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301752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0.984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0576" y="2651760"/>
            <a:ext cx="713232" cy="713232"/>
          </a:xfrm>
          <a:prstGeom prst="rect">
            <a:avLst/>
          </a:prstGeom>
          <a:solidFill>
            <a:srgbClr val="2D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27249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301752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966960" y="2651760"/>
            <a:ext cx="713232" cy="713232"/>
          </a:xfrm>
          <a:prstGeom prst="rect">
            <a:avLst/>
          </a:prstGeom>
          <a:solidFill>
            <a:srgbClr val="2D7D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66960" y="27249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1752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1.000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753344" y="2651760"/>
            <a:ext cx="713232" cy="713232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753344" y="2724912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53344" y="3017520"/>
            <a:ext cx="7132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0.996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0" y="36576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A4D7A"/>
                </a:solidFill>
                <a:latin typeface="Calibri"/>
              </a:rPr>
              <a:t>Three folds give exact 1.000.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4023360"/>
            <a:ext cx="5486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555555"/>
                </a:solidFill>
                <a:latin typeface="Calibri"/>
              </a:rPr>
              <a:t>Withholding wells 3, 5, or 6 produces the identical pooled clustering. The other four folds match within 0.04 of 1.0.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486400"/>
            <a:ext cx="11094415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486400"/>
            <a:ext cx="36576" cy="777240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5577840"/>
            <a:ext cx="1054577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Operational meaning: sub-zone 0 in well 1 has the same characteristic vsh, phit, perm, and sw as sub-zone 0 in well 7. Same rock, different depths.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22  —  PART D  ·  THE DRILLING IMPLICATION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Sub-zone 2 — the natural drilling target.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The clustering isn't academic. It changes the per-foot economics.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11094415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600" b="1" i="0">
                <a:solidFill>
                  <a:srgbClr val="1A4D7A"/>
                </a:solidFill>
                <a:latin typeface="Calibri"/>
              </a:rPr>
              <a:t>51%  of  kh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  <a:latin typeface="Calibri"/>
              </a:rPr>
              <a:t>in just 29% of Zone C's thickness.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4D7A"/>
                </a:solidFill>
                <a:latin typeface="Calibri"/>
              </a:rPr>
              <a:t>315.6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166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field-wide thickness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45720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4D7A"/>
                </a:solidFill>
                <a:latin typeface="Calibri"/>
              </a:rPr>
              <a:t>~1,100 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5166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avg permeability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5720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4D7A"/>
                </a:solidFill>
                <a:latin typeface="Calibri"/>
              </a:rPr>
              <a:t>~7×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5166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perm gap vs sub-zone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45720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4D7A"/>
                </a:solidFill>
                <a:latin typeface="Calibri"/>
              </a:rPr>
              <a:t>7 /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516636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55555"/>
                </a:solidFill>
                <a:latin typeface="Calibri"/>
              </a:rPr>
              <a:t>wells where present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21792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Targeting sub-zone 2 captures roughly twice the flow per metre drilled vs an undifferentiated Zone C target.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23  —  PART D  ·  THE NEGATIVE 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We ran Zone B as a controlled experiment.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It failed in a specific, predictable way — and that failure is itself a finding.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555555"/>
                </a:solidFill>
                <a:latin typeface="Calibri"/>
              </a:rPr>
              <a:t>Zone B sub-zone centroids — log_perm values: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539496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55555"/>
                </a:solidFill>
                <a:latin typeface="Calibri"/>
              </a:rPr>
              <a:t>SUB-ZONE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089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A4D7A"/>
                </a:solidFill>
                <a:latin typeface="Calibri"/>
              </a:rPr>
              <a:t>4.175938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0690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≈ 14,985 mD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2697480"/>
            <a:ext cx="539496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555555"/>
                </a:solidFill>
                <a:latin typeface="Calibri"/>
              </a:rPr>
              <a:t>SUB-ZONE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108960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1A4D7A"/>
                </a:solidFill>
                <a:latin typeface="Calibri"/>
              </a:rPr>
              <a:t>4.176091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06908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555555"/>
                </a:solidFill>
                <a:latin typeface="Calibri"/>
              </a:rPr>
              <a:t>≈ 14,995 mD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937760"/>
            <a:ext cx="11094415" cy="868680"/>
          </a:xfrm>
          <a:prstGeom prst="rect">
            <a:avLst/>
          </a:prstGeom>
          <a:solidFill>
            <a:srgbClr val="FFF3D6"/>
          </a:solidFill>
          <a:ln w="6350">
            <a:solidFill>
              <a:srgbClr val="F0E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36576" cy="868680"/>
          </a:xfrm>
          <a:prstGeom prst="rect">
            <a:avLst/>
          </a:prstGeom>
          <a:solidFill>
            <a:srgbClr val="B886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50292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60B"/>
                </a:solidFill>
                <a:latin typeface="Calibri"/>
              </a:rPr>
              <a:t>Difference: 0.00015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10545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1A1A1A"/>
                </a:solidFill>
                <a:latin typeface="Calibri"/>
              </a:rPr>
              <a:t>10 mD on a permeability spanning 5 orders of magnitude. The tool can't tell them apart — and so neither can clustering.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→  Saturation defeats clustering on a saturated feature. Confirms what Lorenz already suggested.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24  —  RECAP  ·  THE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Three things we took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Methodology lessons that apply beyond this dataset.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9A769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194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4D7A"/>
                </a:solidFill>
                <a:latin typeface="Calibri"/>
              </a:rPr>
              <a:t>Discovery first, computation second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60604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Saturation could only be found by interrogating the data, not by accepting it. Every downstream finding rests on this single discovery.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9A769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3429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4D7A"/>
                </a:solidFill>
                <a:latin typeface="Calibri"/>
              </a:rPr>
              <a:t>Bound conclusions when calibration is missing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84048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Without core or production data, sensitivity sweeps and uncertainty bounds replace single point estimates. Robust findings survive any reasonable cutoff.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66344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C9A769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63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4D7A"/>
                </a:solidFill>
                <a:latin typeface="Calibri"/>
              </a:rPr>
              <a:t>Negative results matter as much as positive 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507492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555555"/>
                </a:solidFill>
                <a:latin typeface="Calibri"/>
              </a:rPr>
              <a:t>Zone B's clustering failure is as informative as Zone C's success. It confirms — at a different level — what Lorenz already suggested.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C9A769"/>
                </a:solidFill>
                <a:latin typeface="Calibri"/>
              </a:rPr>
              <a:t>25  —  RECAP  ·  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alibri"/>
              </a:rPr>
              <a:t>What another two weeks would buy.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  <a:latin typeface="Calibri"/>
              </a:rPr>
              <a:t>Three concrete next steps to lift the conclusions from internal-consistency to external validation.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359152"/>
            <a:ext cx="164592" cy="164592"/>
          </a:xfrm>
          <a:prstGeom prst="ellipse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194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Core data validation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560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Compare sub-zone boundaries to described lithology in core photos and measured core perm. Gold-standard external validation.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06324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Highest value, requires core lab access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593592"/>
            <a:ext cx="164592" cy="164592"/>
          </a:xfrm>
          <a:prstGeom prst="ellipse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429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Production log overlay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Match PLT/spinner inflow profiles against sub-zone assignments. Tests whether sub-zone 2 actually produces more per metre.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976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Operational validation — confirms drilling implication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828032"/>
            <a:ext cx="164592" cy="164592"/>
          </a:xfrm>
          <a:prstGeom prst="ellipse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6634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1A4D7A"/>
                </a:solidFill>
                <a:latin typeface="Calibri"/>
              </a:rPr>
              <a:t>Saturation-corrected kh bounds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0292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A1A1A"/>
                </a:solidFill>
                <a:latin typeface="Calibri"/>
              </a:rPr>
              <a:t>Estimate the true Zone B kh range using sandstone perm priors. Pair the current lower bound with an order-of-magnitude upper bound.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53212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  <a:latin typeface="Calibri"/>
              </a:rPr>
              <a:t>Resolves the largest single uncertainty in the deliverable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A4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C9A769"/>
                </a:solidFill>
                <a:latin typeface="Calibri"/>
              </a:rPr>
              <a:t>RESERVOIR ANALYTICS  ·  MAY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4320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 i="0">
                <a:solidFill>
                  <a:srgbClr val="1A1A1A"/>
                </a:solidFill>
                <a:latin typeface="Calibri"/>
              </a:rPr>
              <a:t>Thank you.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297680"/>
            <a:ext cx="2286000" cy="19050"/>
          </a:xfrm>
          <a:prstGeom prst="rect">
            <a:avLst/>
          </a:prstGeom>
          <a:solidFill>
            <a:srgbClr val="C9A7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5262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1A1A"/>
                </a:solidFill>
                <a:latin typeface="Calibri"/>
              </a:rPr>
              <a:t>Kamil Muradli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9377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55555"/>
                </a:solidFill>
                <a:latin typeface="Calibri"/>
              </a:rPr>
              <a:t>eiGroup Associate Data Scientist Assessment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999999"/>
                </a:solidFill>
                <a:latin typeface="Calibri"/>
              </a:rPr>
              <a:t>Submitted May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852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1A4D7A"/>
                </a:solidFill>
                <a:latin typeface="Calibri"/>
              </a:rPr>
              <a:t>Questions and detailed walkthrough documents available in /outputs/reports/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77295" y="6537960"/>
            <a:ext cx="640080" cy="2286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>
                <a:solidFill>
                  <a:srgbClr val="999999"/>
                </a:solidFill>
                <a:latin typeface="Calibri"/>
              </a:rPr>
              <a:t>26 / 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